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731520"/>
            <a:ext cx="3017520" cy="3017520"/>
          </a:xfrm>
          <a:prstGeom prst="ellipse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3200400"/>
            <a:ext cx="2011680" cy="2011680"/>
          </a:xfrm>
          <a:prstGeom prst="ellipse">
            <a:avLst/>
          </a:prstGeom>
          <a:solidFill>
            <a:srgbClr val="1A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4389120"/>
            <a:ext cx="1371600" cy="1371600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68580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300" b="1">
                <a:solidFill>
                  <a:srgbClr val="80C4FF"/>
                </a:solidFill>
                <a:latin typeface="Aptos"/>
              </a:defRPr>
            </a:pPr>
            <a:r>
              <a:t>DATA ANALYTICS •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680960" cy="1554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E-Commerce Sales</a:t>
            </a:r>
            <a:br/>
            <a:r>
              <a:t>&amp; Profit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37560"/>
            <a:ext cx="685800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000" b="0">
                <a:solidFill>
                  <a:srgbClr val="D5E5F7"/>
                </a:solidFill>
                <a:latin typeface="Aptos"/>
              </a:defRPr>
            </a:pPr>
            <a:r>
              <a:t>Turning sales data into clear business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89120"/>
            <a:ext cx="1143000" cy="64008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800600"/>
            <a:ext cx="6858000" cy="29400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Prepared by: </a:t>
            </a:r>
            <a:r>
              <a:rPr lang="en-IN"/>
              <a:t>Ankit Kumar Mahto (</a:t>
            </a:r>
            <a:r>
              <a:t>B.Tech CSE Student</a:t>
            </a:r>
            <a:r>
              <a:rPr lang="en-IN"/>
              <a:t>)</a:t>
            </a:r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04672" y="5303520"/>
            <a:ext cx="713232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C2D5EB"/>
                </a:solidFill>
                <a:latin typeface="Aptos"/>
              </a:defRPr>
            </a:pPr>
            <a:r>
              <a:t>Python • Pandas • Matplotlib • Power BI •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1000" b="1">
                <a:solidFill>
                  <a:srgbClr val="A0C8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500" b="1">
                <a:solidFill>
                  <a:srgbClr val="0F2747"/>
                </a:solidFill>
                <a:latin typeface="Aptos"/>
              </a:defRPr>
            </a:pPr>
            <a:r>
              <a:t>01  |  Business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0">
                <a:solidFill>
                  <a:srgbClr val="5C6F84"/>
                </a:solidFill>
                <a:latin typeface="Aptos"/>
              </a:defRPr>
            </a:pPr>
            <a:r>
              <a:t>E-COMMERCE SALES &amp; PROFIT ANALYSIS  • 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1000" b="1">
                <a:solidFill>
                  <a:srgbClr val="1D64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2120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82296" cy="1874519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17904"/>
            <a:ext cx="484632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83664"/>
            <a:ext cx="4828032" cy="127101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Sales data can be large and difficult to interpret. Businesses need to know which categories, regions and customer segments drive sales—and whether those sales are profitable.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2120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82296" cy="1874519"/>
          </a:xfrm>
          <a:prstGeom prst="rect">
            <a:avLst/>
          </a:prstGeom>
          <a:solidFill>
            <a:srgbClr val="1A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517904"/>
            <a:ext cx="484632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883664"/>
            <a:ext cx="4828032" cy="127101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Analyze the Superstore sales dataset, identify performance patterns, and present findings in charts and an interactive Power BI dashboard.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800" b="1">
                <a:solidFill>
                  <a:srgbClr val="0F2747"/>
                </a:solidFill>
                <a:latin typeface="Aptos"/>
              </a:defRPr>
            </a:pPr>
            <a:r>
              <a:t>Questions this project explores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43346"/>
                </a:solidFill>
                <a:latin typeface="Aptos"/>
              </a:defRPr>
            </a:pPr>
            <a:r>
              <a:t>•  Which product categories and sub-categories perform well?</a:t>
            </a:r>
          </a:p>
          <a:p>
            <a:pPr>
              <a:spcAft>
                <a:spcPts val="1000"/>
              </a:spcAft>
              <a:defRPr sz="1600">
                <a:solidFill>
                  <a:srgbClr val="243346"/>
                </a:solidFill>
                <a:latin typeface="Aptos"/>
              </a:defRPr>
            </a:pPr>
            <a:r>
              <a:t>•  How do sales differ across regions and customer segments?</a:t>
            </a:r>
          </a:p>
          <a:p>
            <a:pPr>
              <a:spcAft>
                <a:spcPts val="1000"/>
              </a:spcAft>
              <a:defRPr sz="1600">
                <a:solidFill>
                  <a:srgbClr val="243346"/>
                </a:solidFill>
                <a:latin typeface="Aptos"/>
              </a:defRPr>
            </a:pPr>
            <a:r>
              <a:t>•  What should the business investigate to improve profitability?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500" b="1">
                <a:solidFill>
                  <a:srgbClr val="0F2747"/>
                </a:solidFill>
                <a:latin typeface="Aptos"/>
              </a:defRPr>
            </a:pPr>
            <a:r>
              <a:t>02  |  Tools &amp; 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0">
                <a:solidFill>
                  <a:srgbClr val="5C6F84"/>
                </a:solidFill>
                <a:latin typeface="Aptos"/>
              </a:defRPr>
            </a:pPr>
            <a:r>
              <a:t>E-COMMERCE SALES &amp; PROFIT ANALYSIS  • 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1000" b="1">
                <a:solidFill>
                  <a:srgbClr val="1D64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82296" cy="1508760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72184"/>
            <a:ext cx="306324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01 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37943"/>
            <a:ext cx="3044952" cy="90525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Inspect raw Superstore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325880"/>
            <a:ext cx="82296" cy="1508760"/>
          </a:xfrm>
          <a:prstGeom prst="rect">
            <a:avLst/>
          </a:prstGeom>
          <a:solidFill>
            <a:srgbClr val="1A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472184"/>
            <a:ext cx="306324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02  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837943"/>
            <a:ext cx="3044952" cy="90525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Clean and organize data with Python/Pandas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325880"/>
            <a:ext cx="82296" cy="150876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1472184"/>
            <a:ext cx="306324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03  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1837943"/>
            <a:ext cx="3044952" cy="90525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Summarize sales, profit and quantity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429000"/>
            <a:ext cx="82296" cy="1508760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575304"/>
            <a:ext cx="306324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04  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941064"/>
            <a:ext cx="3044952" cy="90525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Create charts with Matplotlib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429000"/>
            <a:ext cx="82296" cy="1508760"/>
          </a:xfrm>
          <a:prstGeom prst="rect">
            <a:avLst/>
          </a:prstGeom>
          <a:solidFill>
            <a:srgbClr val="1A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575304"/>
            <a:ext cx="306324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05 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3941064"/>
            <a:ext cx="3044952" cy="90525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Build interactive Power BI 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3429000"/>
            <a:ext cx="82296" cy="150876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3575304"/>
            <a:ext cx="306324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06  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3941064"/>
            <a:ext cx="3044952" cy="90525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Record insights and recommendations in 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71500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300" b="0">
                <a:solidFill>
                  <a:srgbClr val="5C6F84"/>
                </a:solidFill>
                <a:latin typeface="Aptos"/>
              </a:defRPr>
            </a:pPr>
            <a:r>
              <a:t>Git tracks changes; GitHub stores and shares the project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500" b="1">
                <a:solidFill>
                  <a:srgbClr val="0F2747"/>
                </a:solidFill>
                <a:latin typeface="Aptos"/>
              </a:defRPr>
            </a:pPr>
            <a:r>
              <a:t>03  |  Exploratory Data Analysis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0">
                <a:solidFill>
                  <a:srgbClr val="5C6F84"/>
                </a:solidFill>
                <a:latin typeface="Aptos"/>
              </a:defRPr>
            </a:pPr>
            <a:r>
              <a:t>E-COMMERCE SALES &amp; PROFIT ANALYSIS  • 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1000" b="1">
                <a:solidFill>
                  <a:srgbClr val="1D64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82296" cy="1737360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17904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83664"/>
            <a:ext cx="3090672" cy="113385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Inspect columns and data types, check data quality, and prepare a processed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82296" cy="1737360"/>
          </a:xfrm>
          <a:prstGeom prst="rect">
            <a:avLst/>
          </a:prstGeom>
          <a:solidFill>
            <a:srgbClr val="1A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17904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Summary 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83664"/>
            <a:ext cx="3090672" cy="113385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Review sales, profit and quantity; compare results by category, region and segment.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82296" cy="173736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17904"/>
            <a:ext cx="301752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Visual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83664"/>
            <a:ext cx="2999232" cy="113385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Compare categories and regions; explore how discounts may relate to profit.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100584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800" b="1">
                <a:solidFill>
                  <a:srgbClr val="0F2747"/>
                </a:solidFill>
                <a:latin typeface="Aptos"/>
              </a:defRPr>
            </a:pPr>
            <a:r>
              <a:t>Charts created in the project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51960"/>
            <a:ext cx="2286000" cy="640080"/>
          </a:xfrm>
          <a:prstGeom prst="roundRect">
            <a:avLst/>
          </a:prstGeom>
          <a:solidFill>
            <a:srgbClr val="E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434840"/>
            <a:ext cx="2139696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200" b="1">
                <a:solidFill>
                  <a:srgbClr val="1D64BE"/>
                </a:solidFill>
                <a:latin typeface="Aptos"/>
              </a:defRPr>
            </a:pPr>
            <a:r>
              <a:t>Sales by Category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79" y="4251960"/>
            <a:ext cx="2286000" cy="640080"/>
          </a:xfrm>
          <a:prstGeom prst="roundRect">
            <a:avLst/>
          </a:prstGeom>
          <a:solidFill>
            <a:srgbClr val="E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1" y="4434840"/>
            <a:ext cx="2139696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200" b="1">
                <a:solidFill>
                  <a:srgbClr val="1D64BE"/>
                </a:solidFill>
                <a:latin typeface="Aptos"/>
              </a:defRPr>
            </a:pPr>
            <a:r>
              <a:t>Profit by Category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251960"/>
            <a:ext cx="2286000" cy="640080"/>
          </a:xfrm>
          <a:prstGeom prst="roundRect">
            <a:avLst/>
          </a:prstGeom>
          <a:solidFill>
            <a:srgbClr val="E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434840"/>
            <a:ext cx="2139696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200" b="1">
                <a:solidFill>
                  <a:srgbClr val="1D64BE"/>
                </a:solidFill>
                <a:latin typeface="Aptos"/>
              </a:defRPr>
            </a:pPr>
            <a:r>
              <a:t>Discount vs Profit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19" y="4251960"/>
            <a:ext cx="2286000" cy="640080"/>
          </a:xfrm>
          <a:prstGeom prst="roundRect">
            <a:avLst/>
          </a:prstGeom>
          <a:solidFill>
            <a:srgbClr val="E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2872" y="4434840"/>
            <a:ext cx="2139696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200" b="1">
                <a:solidFill>
                  <a:srgbClr val="1D64BE"/>
                </a:solidFill>
                <a:latin typeface="Aptos"/>
              </a:defRPr>
            </a:pPr>
            <a:r>
              <a:t>Regional 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03520"/>
            <a:ext cx="1069848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100" b="0">
                <a:solidFill>
                  <a:srgbClr val="5C6F84"/>
                </a:solidFill>
                <a:latin typeface="Aptos"/>
              </a:defRPr>
            </a:pPr>
            <a:r>
              <a:t>Note: The available dataset does not include Order Date / Ship Date columns, so date-based trends and date slicers are not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500" b="1">
                <a:solidFill>
                  <a:srgbClr val="0F2747"/>
                </a:solidFill>
                <a:latin typeface="Aptos"/>
              </a:defRPr>
            </a:pPr>
            <a:r>
              <a:t>04  |  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0">
                <a:solidFill>
                  <a:srgbClr val="5C6F84"/>
                </a:solidFill>
                <a:latin typeface="Aptos"/>
              </a:defRPr>
            </a:pPr>
            <a:r>
              <a:t>E-COMMERCE SALES &amp; PROFIT ANALYSIS  • 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1000" b="1">
                <a:solidFill>
                  <a:srgbClr val="1D64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33375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29718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100" b="1">
                <a:solidFill>
                  <a:srgbClr val="5C6F84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97180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2500" b="1">
                <a:solidFill>
                  <a:srgbClr val="1D64BE"/>
                </a:solidFill>
                <a:latin typeface="Aptos"/>
              </a:defRPr>
            </a:pPr>
            <a:r>
              <a:t>$2.30M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25880"/>
            <a:ext cx="33375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36192"/>
            <a:ext cx="29718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100" b="1">
                <a:solidFill>
                  <a:srgbClr val="5C6F84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0"/>
            <a:ext cx="297180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2500" b="1">
                <a:solidFill>
                  <a:srgbClr val="1A99A0"/>
                </a:solidFill>
                <a:latin typeface="Aptos"/>
              </a:defRPr>
            </a:pPr>
            <a:r>
              <a:t>$286.24K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325880"/>
            <a:ext cx="33375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536192"/>
            <a:ext cx="29718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100" b="1">
                <a:solidFill>
                  <a:srgbClr val="5C6F84"/>
                </a:solidFill>
                <a:latin typeface="Aptos"/>
              </a:defRPr>
            </a:pPr>
            <a:r>
              <a:t>TOTAL QUANTITY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828800"/>
            <a:ext cx="297180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2500" b="1">
                <a:solidFill>
                  <a:srgbClr val="F4B740"/>
                </a:solidFill>
                <a:latin typeface="Aptos"/>
              </a:defRPr>
            </a:pPr>
            <a:r>
              <a:t>37,820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880360"/>
            <a:ext cx="51206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880360"/>
            <a:ext cx="82296" cy="1828800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026664"/>
            <a:ext cx="4754879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Dashboard visuals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392424"/>
            <a:ext cx="4736592" cy="122529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Sales by category • Profit by category</a:t>
            </a:r>
            <a:br/>
            <a:r>
              <a:t>Sales by region • Profit by sub-category</a:t>
            </a:r>
            <a:br/>
            <a:r>
              <a:t>Sales by customer segment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880360"/>
            <a:ext cx="50749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880360"/>
            <a:ext cx="82296" cy="1828800"/>
          </a:xfrm>
          <a:prstGeom prst="rect">
            <a:avLst/>
          </a:prstGeom>
          <a:solidFill>
            <a:srgbClr val="1A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3026664"/>
            <a:ext cx="4709159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Interactive filters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3392424"/>
            <a:ext cx="4690872" cy="122529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Ship Mode and State slicers help users focus the dashboard on selected delivery methods or states.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5780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100" b="0">
                <a:solidFill>
                  <a:srgbClr val="5C6F84"/>
                </a:solidFill>
                <a:latin typeface="Aptos"/>
              </a:defRPr>
            </a:pPr>
            <a:r>
              <a:t>KPI values are approximate values recorded during project work; verify against the final Power BI file before presenting.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500" b="1">
                <a:solidFill>
                  <a:srgbClr val="0F2747"/>
                </a:solidFill>
                <a:latin typeface="Aptos"/>
              </a:defRPr>
            </a:pPr>
            <a:r>
              <a:t>05  |  Business Insights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058400" cy="20116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0">
                <a:solidFill>
                  <a:srgbClr val="5C6F84"/>
                </a:solidFill>
                <a:latin typeface="Aptos"/>
              </a:defRPr>
            </a:pPr>
            <a:r>
              <a:t>E-COMMERCE SALES &amp; PROFIT ANALYSIS  • 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1000" b="1">
                <a:solidFill>
                  <a:srgbClr val="1D64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82296" cy="1874519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26463"/>
            <a:ext cx="484632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Insights to communicate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4828032" cy="127101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100" b="0">
                <a:solidFill>
                  <a:srgbClr val="243346"/>
                </a:solidFill>
                <a:latin typeface="Aptos"/>
              </a:defRPr>
            </a:pPr>
            <a:r>
              <a:t>• Technology was identified as a strong sales and profit category.</a:t>
            </a:r>
            <a:br/>
            <a:r>
              <a:t>• Consumer customers were the largest segment by sales in project notes.</a:t>
            </a:r>
            <a:br/>
            <a:r>
              <a:t>• Discount levels should be reviewed alongside profit.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82296" cy="1874519"/>
          </a:xfrm>
          <a:prstGeom prst="rect">
            <a:avLst/>
          </a:prstGeom>
          <a:solidFill>
            <a:srgbClr val="1A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26463"/>
            <a:ext cx="484632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Areas to 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92224"/>
            <a:ext cx="4828032" cy="127101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100" b="0">
                <a:solidFill>
                  <a:srgbClr val="243346"/>
                </a:solidFill>
                <a:latin typeface="Aptos"/>
              </a:defRPr>
            </a:pPr>
            <a:r>
              <a:t>• Compare regional performance, including West and East.</a:t>
            </a:r>
            <a:br/>
            <a:r>
              <a:t>• Review low-profit or loss-making sub-categories.</a:t>
            </a:r>
            <a:br/>
            <a:r>
              <a:t>• Check whether discounts reduce profit on selected orders.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100584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800" b="1">
                <a:solidFill>
                  <a:srgbClr val="0F2747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43346"/>
                </a:solidFill>
                <a:latin typeface="Aptos"/>
              </a:defRPr>
            </a:pPr>
            <a:r>
              <a:t>•  Track profit margin as well as sales; high sales do not always mean high profit.</a:t>
            </a:r>
          </a:p>
          <a:p>
            <a:pPr>
              <a:spcAft>
                <a:spcPts val="1000"/>
              </a:spcAft>
              <a:defRPr sz="1400">
                <a:solidFill>
                  <a:srgbClr val="243346"/>
                </a:solidFill>
                <a:latin typeface="Aptos"/>
              </a:defRPr>
            </a:pPr>
            <a:r>
              <a:t>•  Review discount rules and inspect products with repeated losses before changing prices.</a:t>
            </a:r>
          </a:p>
          <a:p>
            <a:pPr>
              <a:spcAft>
                <a:spcPts val="1000"/>
              </a:spcAft>
              <a:defRPr sz="1400">
                <a:solidFill>
                  <a:srgbClr val="243346"/>
                </a:solidFill>
                <a:latin typeface="Aptos"/>
              </a:defRPr>
            </a:pPr>
            <a:r>
              <a:t>•  Use region, state and ship-mode filters for deeper investigation.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10515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000" b="0">
                <a:solidFill>
                  <a:srgbClr val="5C6F84"/>
                </a:solidFill>
                <a:latin typeface="Aptos"/>
              </a:defRPr>
            </a:pPr>
            <a:r>
              <a:t>Validate findings against the final dashboard; avoid presenting unverified figures as exact.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300" b="1">
                <a:solidFill>
                  <a:srgbClr val="80C4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058400" cy="6858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From raw data to business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4937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82296" cy="1600200"/>
          </a:xfrm>
          <a:prstGeom prst="rect">
            <a:avLst/>
          </a:prstGeom>
          <a:solidFill>
            <a:srgbClr val="1D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478024"/>
            <a:ext cx="45720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What was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43784"/>
            <a:ext cx="4553712" cy="99669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A documented workflow: data preparation, EDA, Python visualizations, Power BI dashboard and recommendations.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331720"/>
            <a:ext cx="4937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2331720"/>
            <a:ext cx="82296" cy="1600200"/>
          </a:xfrm>
          <a:prstGeom prst="rect">
            <a:avLst/>
          </a:prstGeom>
          <a:solidFill>
            <a:srgbClr val="1A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478024"/>
            <a:ext cx="45720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0F2747"/>
                </a:solidFill>
                <a:latin typeface="Aptos"/>
              </a:defRPr>
            </a:pPr>
            <a:r>
              <a:t>What was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843784"/>
            <a:ext cx="4553712" cy="99669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43346"/>
                </a:solidFill>
                <a:latin typeface="Aptos"/>
              </a:defRPr>
            </a:pPr>
            <a:r>
              <a:t>Sales and profit should be examined together. Clear visualizations help teams find patterns and decide what to investigate next.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914400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212080"/>
            <a:ext cx="1042416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100" b="0">
                <a:solidFill>
                  <a:srgbClr val="C3D8EF"/>
                </a:solidFill>
                <a:latin typeface="Aptos"/>
              </a:defRPr>
            </a:pPr>
            <a:r>
              <a:t>GitHub: github.com/ankitkumarmahto9572661826-cyber/ecommerce-sales-analysis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1000" b="1">
                <a:solidFill>
                  <a:srgbClr val="A0C8FF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3700</Words>
  <Application>WPS Presentation</Application>
  <PresentationFormat>On-screen Show (4:3)</PresentationFormat>
  <Paragraphs>162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Ankit kumar Mahto</cp:lastModifiedBy>
  <cp:revision>2</cp:revision>
  <dcterms:created xsi:type="dcterms:W3CDTF">2013-01-27T09:14:00Z</dcterms:created>
  <dcterms:modified xsi:type="dcterms:W3CDTF">2026-10-24T06:50:40Z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A95464F8C72540E89FE9535D3ACD0364_12</vt:lpwstr>
  </property>
  <property fmtid="{D5CDD505-2E9C-101B-9397-08002B2CF9AE}" pid="3" name="KSOProductBuildVer">
    <vt:lpwstr>1033-12.1.0.29162</vt:lpwstr>
  </property>
</Properties>
</file>